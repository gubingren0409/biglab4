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859" autoAdjust="0"/>
  </p:normalViewPr>
  <p:slideViewPr>
    <p:cSldViewPr snapToGrid="0">
      <p:cViewPr>
        <p:scale>
          <a:sx n="100" d="100"/>
          <a:sy n="100" d="100"/>
        </p:scale>
        <p:origin x="95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EEF36-23E1-42AB-B793-8A9C84C22521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73B75-0C42-4A77-A0EE-36CEC920C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71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73B75-0C42-4A77-A0EE-36CEC920C67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770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4F35A-3950-C66D-1616-DE4C1C1F9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596B30-2329-0CF5-F061-4FD6E6CEB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890EE7-17F5-7F35-C6E0-85CDF73C0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CF568C-C81C-5CB4-C90B-689F7AA99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73B75-0C42-4A77-A0EE-36CEC920C67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985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A96E1-FBA1-C832-CE1E-67D769670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F91229-BF7A-096E-623E-55CF21B0D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F454D4-446A-4740-D7DE-1617EFEC5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75B57C-D25F-91A5-B905-9DDC06A9F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73B75-0C42-4A77-A0EE-36CEC920C67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65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53922-0165-9E69-195B-57F8BE9F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28D786-B5E5-1AE3-1F3B-89F7CF61A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81FEAA-B93A-DB87-A463-87A7B92A6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619B5D-2891-41C9-6C5C-94DA0CA30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73B75-0C42-4A77-A0EE-36CEC920C67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284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C0497-4595-CD65-09D7-30E25E193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79BF14-4FE3-6E3A-4F3B-8A196469D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308FA5-5210-42E3-AD2D-38ECEDA22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684BD6-E54D-DDE0-CD4E-23B967953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73B75-0C42-4A77-A0EE-36CEC920C6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74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9AD04-815E-DD6B-B9F1-A332727B2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1E7FE3-AC95-32C1-BCC0-090CC8091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1A8159-B8E7-DDC7-6CBD-612AB4729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B9F275-14C5-B0B8-2A66-F9D187535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73B75-0C42-4A77-A0EE-36CEC920C67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021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56E21-137E-F7E6-C206-909DFBEDF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3FBA36-334D-4AA7-073B-5FA4B2AE4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C2263F-330D-CB68-0670-A49B6B69B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667F-8AF5-4CE4-BD5E-DA4A7706D9C5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F5655-20A5-01C9-98B1-C4A745FF6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9906DF-DC19-A03E-7C10-EAE39D5A7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58ECE-7DE8-4A83-AD08-CDB5C445A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032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EA4C8-EACE-3089-1DBF-6802FF58A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467DB7-E3D4-0DF5-E3AF-382390EF1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5C9AC2-91DF-FF8B-B5A9-44C11EC16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667F-8AF5-4CE4-BD5E-DA4A7706D9C5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BF702B-37B5-64CB-7142-B81B5042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DDF8D6-D400-EFCF-DCFE-97A550BDC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58ECE-7DE8-4A83-AD08-CDB5C445A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68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45D09B-0B14-8EA6-18CD-15C3B9A91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040630-EA5C-A1F4-4CAD-98317F458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D68CBE-0CCA-CD6D-6654-3CAB557B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667F-8AF5-4CE4-BD5E-DA4A7706D9C5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15B734-32C3-89CA-356A-B4F903DC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675E0-C8D9-48E6-FF98-FAD1B983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58ECE-7DE8-4A83-AD08-CDB5C445A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02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D03478-AE94-79CE-87DA-49F99EE11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8E7CF1-0D1B-5A17-8F6B-E162A5388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9C4DB7-F632-AAF8-C21E-0D1DF2F15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141C7B-9E25-B8FD-4F89-D89A44AFA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667F-8AF5-4CE4-BD5E-DA4A7706D9C5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60875F-90AA-C1C5-5BD0-0F828E83F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3BA36F-50E6-80AA-585D-DE5EB2DAB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58ECE-7DE8-4A83-AD08-CDB5C445A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45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5F282-EA6B-24CB-1252-1E3AF5C1B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4A8278-7383-6858-3ED9-DA38BDF6F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D3E1F1-2435-280E-3B4B-84DC5F525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B48EC8-0100-E0DE-AE4D-14E2FFE0D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7E503C-67D0-95C9-1FE5-919A2D4CD7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104131-1361-DCDD-C86B-CD12F5C9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667F-8AF5-4CE4-BD5E-DA4A7706D9C5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C28C82-AFF9-E051-3E05-65212192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37B01E-A832-9370-BCBC-7EC34F2F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58ECE-7DE8-4A83-AD08-CDB5C445A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359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BA696-BA26-563C-3EF7-719C272E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97935E-7DE1-3E71-3340-EC6D98CC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667F-8AF5-4CE4-BD5E-DA4A7706D9C5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209A7D-52B1-0B05-1613-4732FAC2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316DA7-E1E8-B78B-E4F4-3E12B49C6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58ECE-7DE8-4A83-AD08-CDB5C445A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290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2B231F-9E98-2345-F127-B16BF403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667F-8AF5-4CE4-BD5E-DA4A7706D9C5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35D2D86-BB68-4BD7-345F-E0442286D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CDE760-973B-8D7E-5443-DCAA6034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58ECE-7DE8-4A83-AD08-CDB5C445A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28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A9B1E7-BE42-4327-B022-89BEFACEA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289546-BA78-0A74-CFA4-ADC8E6560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8F258A-0C7A-09F7-DC8D-9246DAE99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67EA7-D2D9-F7BC-BBDE-1923F290C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667F-8AF5-4CE4-BD5E-DA4A7706D9C5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42DAF5-B943-FDE8-6C16-F2914E64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A1311C-B2D7-07E1-8D9E-6DA4857CC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58ECE-7DE8-4A83-AD08-CDB5C445A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954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95204-048C-1AE3-4F8E-F618C6E6E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E2F1D7-9677-0E0B-5A22-D5A237E3ED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D5E523-480D-F240-237D-37336DD68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13639A-EB6E-F1DF-6DCB-97496CAD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667F-8AF5-4CE4-BD5E-DA4A7706D9C5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7A9AC8-C9B9-B6D3-AC31-4FED93B1E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A26FA7-90DB-78FC-45C9-7F375CCE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58ECE-7DE8-4A83-AD08-CDB5C445A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951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993F8D-7ECB-7C90-E3C3-A062C597A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14C3E4-184E-04DF-8C7B-8BCFDB899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81F0D8-9530-687A-7BA5-CF8A53C4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667F-8AF5-4CE4-BD5E-DA4A7706D9C5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62A9AE-254C-985F-43AB-D6CAC180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D9248E-EC54-78B2-464D-442D2806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58ECE-7DE8-4A83-AD08-CDB5C445A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95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4F4D30-CD4F-AEED-DE1B-456509DA3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75AD36-E4E8-3949-07A0-2A15902B0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7607F2-190A-44BA-B5F2-645AD17F9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667F-8AF5-4CE4-BD5E-DA4A7706D9C5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F40FEE-3F76-4B40-D506-A5AE7C357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3437F7-9FCD-249F-5F97-A4430A61A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58ECE-7DE8-4A83-AD08-CDB5C445A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12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F21405-6D0A-53BB-14A7-086F0DB9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8B541F-4F0D-81D4-4A40-798ECAD45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6E58CD-2135-6B55-95EF-3E7BB32FB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B667F-8AF5-4CE4-BD5E-DA4A7706D9C5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7A63E6-9279-594B-9F40-8EF22418F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9C3B06-1B95-85BE-0EE0-B2B2A82F9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58ECE-7DE8-4A83-AD08-CDB5C445A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446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2F6A5-0FA1-7990-C146-62D0DA6FD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7800" y="5877168"/>
            <a:ext cx="4216400" cy="79814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b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b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2025</a:t>
            </a: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年 秋季学期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8">
            <a:extLst>
              <a:ext uri="{FF2B5EF4-FFF2-40B4-BE49-F238E27FC236}">
                <a16:creationId xmlns:a16="http://schemas.microsoft.com/office/drawing/2014/main" id="{7729CBF2-FE9B-E23E-83B6-53F957652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88" y="109041"/>
            <a:ext cx="1125591" cy="1113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54E3DA7-50D6-E0DE-DE80-E6E0AFDCCEF2}"/>
              </a:ext>
            </a:extLst>
          </p:cNvPr>
          <p:cNvSpPr/>
          <p:nvPr/>
        </p:nvSpPr>
        <p:spPr>
          <a:xfrm>
            <a:off x="0" y="1414055"/>
            <a:ext cx="12192000" cy="334551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7200" dirty="0">
                <a:latin typeface="宋体" panose="02010600030101010101" pitchFamily="2" charset="-122"/>
                <a:ea typeface="宋体" panose="02010600030101010101" pitchFamily="2" charset="-122"/>
              </a:rPr>
              <a:t>操作系统课程实验</a:t>
            </a:r>
            <a:endParaRPr lang="en-US" altLang="zh-CN" sz="7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000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40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4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的小型内核实现</a:t>
            </a:r>
          </a:p>
        </p:txBody>
      </p:sp>
    </p:spTree>
    <p:extLst>
      <p:ext uri="{BB962C8B-B14F-4D97-AF65-F5344CB8AC3E}">
        <p14:creationId xmlns:p14="http://schemas.microsoft.com/office/powerpoint/2010/main" val="2055148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1E0E-9988-36C5-A251-866B0B417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B0EE90C-1D2A-DE54-292E-87D63B6D702E}"/>
              </a:ext>
            </a:extLst>
          </p:cNvPr>
          <p:cNvSpPr txBox="1"/>
          <p:nvPr/>
        </p:nvSpPr>
        <p:spPr>
          <a:xfrm>
            <a:off x="2716579" y="769083"/>
            <a:ext cx="65321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lab-0</a:t>
            </a:r>
            <a:r>
              <a:rPr lang="zh-CN" altLang="en-US" sz="4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实验简介与环境配置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7F13B5-22A7-924D-3A6A-9644192B2FE2}"/>
              </a:ext>
            </a:extLst>
          </p:cNvPr>
          <p:cNvSpPr txBox="1"/>
          <p:nvPr/>
        </p:nvSpPr>
        <p:spPr>
          <a:xfrm>
            <a:off x="3893281" y="2193096"/>
            <a:ext cx="5012593" cy="369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我们要做什么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为什么做这个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你需要知道的事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实验环境配置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你应该学习的前置知识</a:t>
            </a:r>
          </a:p>
        </p:txBody>
      </p:sp>
    </p:spTree>
    <p:extLst>
      <p:ext uri="{BB962C8B-B14F-4D97-AF65-F5344CB8AC3E}">
        <p14:creationId xmlns:p14="http://schemas.microsoft.com/office/powerpoint/2010/main" val="1863028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7A1E3-4E96-FA24-D60C-17CDF047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5F083A4-076D-39F7-D579-3AB1054F922B}"/>
              </a:ext>
            </a:extLst>
          </p:cNvPr>
          <p:cNvSpPr txBox="1"/>
          <p:nvPr/>
        </p:nvSpPr>
        <p:spPr>
          <a:xfrm>
            <a:off x="148493" y="132861"/>
            <a:ext cx="3157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我们要做什么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2C7764-DB27-8181-D1B1-5B63AB44A016}"/>
              </a:ext>
            </a:extLst>
          </p:cNvPr>
          <p:cNvSpPr txBox="1"/>
          <p:nvPr/>
        </p:nvSpPr>
        <p:spPr>
          <a:xfrm>
            <a:off x="187569" y="1039446"/>
            <a:ext cx="11816862" cy="5562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我们要做一件很酷的事情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开发一个小型操作系统内核。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没概念？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就是写一个程序，不过它应该比你接触过的任何程序都更加复杂和强大。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什么叫从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？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你不需要改动任何人写的代码，你面对的是一张白纸。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我知道，我们写的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语言算法题就是这样！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不，在这里你几乎不能调用任何库。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不调用库函数怎么编程？连打印字符串都做不到！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不必担心，做完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lab-1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就能了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我们真的要平地起高楼吗？毫无头绪啊！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两个好消息：①助教会通过实验文档给你建立逻辑框架（虽然不一定足够完善清晰）②你可以看到隔壁高楼建完的样子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—xv6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从易于理解的角度出发，我们研究的是：如何从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开始建立一个类似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xv6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内核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注：你可以参考的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xv6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版本是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xv6-riscv 2020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版，包括代码、文档、其他人的解析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01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F68B-BA69-C0D5-E4E2-FFB4F58F4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39DE1B-5D0F-A5F3-29FF-CAADA5C7394F}"/>
              </a:ext>
            </a:extLst>
          </p:cNvPr>
          <p:cNvSpPr txBox="1"/>
          <p:nvPr/>
        </p:nvSpPr>
        <p:spPr>
          <a:xfrm>
            <a:off x="148493" y="132861"/>
            <a:ext cx="3157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为什么做这个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4223ED-F4FF-E576-50B4-E98CEACF5D43}"/>
              </a:ext>
            </a:extLst>
          </p:cNvPr>
          <p:cNvSpPr txBox="1"/>
          <p:nvPr/>
        </p:nvSpPr>
        <p:spPr>
          <a:xfrm>
            <a:off x="292344" y="944196"/>
            <a:ext cx="11816862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回答很简单：因为你是没有经验的初学者，做一个简单的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demo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是很好的学习路径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学操作系统，就去写一个小型操作系统；学体系结构，就去搭一个小型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；学编译原理，就去写一个小型编译器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在计算机系统领域，这是一种通用策略。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具体来说，你会有如下收获：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对操作系统的运行机制和常见策略形成深刻理解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清楚一些常见操作背后的魔法，例如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malloc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exit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从单文件算法编程走向多文件系统编程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理解软件开发的流程和思想，显著提升工程能力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初步了解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makefile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qemu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gdb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等实用工具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更强的心理韧性，面对失败百折不挠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167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DED71-C7A0-6F95-07B8-46226FB4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C352047-1602-6664-EF2B-66703C7E2E9B}"/>
              </a:ext>
            </a:extLst>
          </p:cNvPr>
          <p:cNvSpPr txBox="1"/>
          <p:nvPr/>
        </p:nvSpPr>
        <p:spPr>
          <a:xfrm>
            <a:off x="148493" y="132861"/>
            <a:ext cx="3688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你需要知道的事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C591431-E1CD-469E-5756-D4258E1D0FA3}"/>
              </a:ext>
            </a:extLst>
          </p:cNvPr>
          <p:cNvGrpSpPr/>
          <p:nvPr/>
        </p:nvGrpSpPr>
        <p:grpSpPr>
          <a:xfrm>
            <a:off x="171940" y="1602155"/>
            <a:ext cx="11879394" cy="437661"/>
            <a:chOff x="171940" y="1148863"/>
            <a:chExt cx="11879394" cy="437661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A4DC571-0474-B5E6-BC47-1F48981D5FD1}"/>
                </a:ext>
              </a:extLst>
            </p:cNvPr>
            <p:cNvSpPr/>
            <p:nvPr/>
          </p:nvSpPr>
          <p:spPr>
            <a:xfrm>
              <a:off x="171940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A91EC99-491B-04A6-8072-FC8C45A0C139}"/>
                </a:ext>
              </a:extLst>
            </p:cNvPr>
            <p:cNvSpPr/>
            <p:nvPr/>
          </p:nvSpPr>
          <p:spPr>
            <a:xfrm>
              <a:off x="875325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9A2226E-06A4-30F8-6B0D-D4BEC56BCD5C}"/>
                </a:ext>
              </a:extLst>
            </p:cNvPr>
            <p:cNvSpPr/>
            <p:nvPr/>
          </p:nvSpPr>
          <p:spPr>
            <a:xfrm>
              <a:off x="1570895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43BDF1F-BCED-47DA-BEB6-5E8CB4068C16}"/>
                </a:ext>
              </a:extLst>
            </p:cNvPr>
            <p:cNvSpPr/>
            <p:nvPr/>
          </p:nvSpPr>
          <p:spPr>
            <a:xfrm>
              <a:off x="2274280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8FB0EE8-2568-371F-BDE7-F21D181B5913}"/>
                </a:ext>
              </a:extLst>
            </p:cNvPr>
            <p:cNvSpPr/>
            <p:nvPr/>
          </p:nvSpPr>
          <p:spPr>
            <a:xfrm>
              <a:off x="2977665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E573C81-8034-E70D-FE17-17ABCC750024}"/>
                </a:ext>
              </a:extLst>
            </p:cNvPr>
            <p:cNvSpPr/>
            <p:nvPr/>
          </p:nvSpPr>
          <p:spPr>
            <a:xfrm>
              <a:off x="3681050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6</a:t>
              </a:r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378169D-BE94-7952-132A-8242F1EEF8A6}"/>
                </a:ext>
              </a:extLst>
            </p:cNvPr>
            <p:cNvSpPr/>
            <p:nvPr/>
          </p:nvSpPr>
          <p:spPr>
            <a:xfrm>
              <a:off x="4376620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7</a:t>
              </a:r>
              <a:endParaRPr lang="zh-CN" altLang="en-US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5E8FA99-E309-CA7C-6862-35457635CF00}"/>
                </a:ext>
              </a:extLst>
            </p:cNvPr>
            <p:cNvSpPr/>
            <p:nvPr/>
          </p:nvSpPr>
          <p:spPr>
            <a:xfrm>
              <a:off x="5080005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8</a:t>
              </a:r>
              <a:endParaRPr lang="zh-CN" altLang="en-US" dirty="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D271803-D8C1-C161-3190-1DECC4E8F9AF}"/>
                </a:ext>
              </a:extLst>
            </p:cNvPr>
            <p:cNvSpPr/>
            <p:nvPr/>
          </p:nvSpPr>
          <p:spPr>
            <a:xfrm>
              <a:off x="5752131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9</a:t>
              </a:r>
              <a:endParaRPr lang="zh-CN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CA67C46-B88E-45B7-1826-82B079148788}"/>
                </a:ext>
              </a:extLst>
            </p:cNvPr>
            <p:cNvSpPr/>
            <p:nvPr/>
          </p:nvSpPr>
          <p:spPr>
            <a:xfrm>
              <a:off x="6455516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10</a:t>
              </a:r>
              <a:endParaRPr lang="zh-CN" altLang="en-US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6073549-DFE1-8A8D-5D74-90FA47FCC0D3}"/>
                </a:ext>
              </a:extLst>
            </p:cNvPr>
            <p:cNvSpPr/>
            <p:nvPr/>
          </p:nvSpPr>
          <p:spPr>
            <a:xfrm>
              <a:off x="7151086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11</a:t>
              </a:r>
              <a:endParaRPr lang="zh-CN" altLang="en-US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9296053-78B2-D1A8-8352-C333932D07E5}"/>
                </a:ext>
              </a:extLst>
            </p:cNvPr>
            <p:cNvSpPr/>
            <p:nvPr/>
          </p:nvSpPr>
          <p:spPr>
            <a:xfrm>
              <a:off x="7854471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12</a:t>
              </a:r>
              <a:endParaRPr lang="zh-CN" altLang="en-US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1E050E1-F35A-BFAD-3D45-4E3EBD91A71B}"/>
                </a:ext>
              </a:extLst>
            </p:cNvPr>
            <p:cNvSpPr/>
            <p:nvPr/>
          </p:nvSpPr>
          <p:spPr>
            <a:xfrm>
              <a:off x="8557856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13</a:t>
              </a:r>
              <a:endParaRPr lang="zh-CN" altLang="en-US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C30B6D9D-AF40-1297-903D-01C8C0B743DF}"/>
                </a:ext>
              </a:extLst>
            </p:cNvPr>
            <p:cNvSpPr/>
            <p:nvPr/>
          </p:nvSpPr>
          <p:spPr>
            <a:xfrm>
              <a:off x="9261241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14</a:t>
              </a:r>
              <a:endParaRPr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7967E13D-D866-E273-4063-311282683431}"/>
                </a:ext>
              </a:extLst>
            </p:cNvPr>
            <p:cNvSpPr/>
            <p:nvPr/>
          </p:nvSpPr>
          <p:spPr>
            <a:xfrm>
              <a:off x="9956811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15</a:t>
              </a:r>
              <a:endParaRPr lang="zh-CN" altLang="en-US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6AC3270-4BA1-CC10-BBB5-35019CF4D7BB}"/>
                </a:ext>
              </a:extLst>
            </p:cNvPr>
            <p:cNvSpPr/>
            <p:nvPr/>
          </p:nvSpPr>
          <p:spPr>
            <a:xfrm>
              <a:off x="10660196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16</a:t>
              </a:r>
              <a:endParaRPr lang="zh-CN" altLang="en-US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FE2FEF4-7E93-051A-6708-C5E663B41EF8}"/>
                </a:ext>
              </a:extLst>
            </p:cNvPr>
            <p:cNvSpPr/>
            <p:nvPr/>
          </p:nvSpPr>
          <p:spPr>
            <a:xfrm>
              <a:off x="11355765" y="1148863"/>
              <a:ext cx="695569" cy="4376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17</a:t>
              </a:r>
              <a:endParaRPr lang="zh-CN" altLang="en-US" dirty="0"/>
            </a:p>
          </p:txBody>
        </p:sp>
      </p:grp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828606A-374A-0C39-AAD9-F427991C17DB}"/>
              </a:ext>
            </a:extLst>
          </p:cNvPr>
          <p:cNvCxnSpPr>
            <a:cxnSpLocks/>
          </p:cNvCxnSpPr>
          <p:nvPr/>
        </p:nvCxnSpPr>
        <p:spPr>
          <a:xfrm flipV="1">
            <a:off x="171941" y="2039816"/>
            <a:ext cx="0" cy="398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9A1D3B2A-A10A-39FF-E9E6-04B862AF06A4}"/>
              </a:ext>
            </a:extLst>
          </p:cNvPr>
          <p:cNvSpPr txBox="1"/>
          <p:nvPr/>
        </p:nvSpPr>
        <p:spPr>
          <a:xfrm>
            <a:off x="0" y="2438400"/>
            <a:ext cx="79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lab-0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416E91A-565F-42F1-B890-9B4B328295A3}"/>
              </a:ext>
            </a:extLst>
          </p:cNvPr>
          <p:cNvCxnSpPr>
            <a:cxnSpLocks/>
          </p:cNvCxnSpPr>
          <p:nvPr/>
        </p:nvCxnSpPr>
        <p:spPr>
          <a:xfrm flipV="1">
            <a:off x="867509" y="2039816"/>
            <a:ext cx="0" cy="398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F87E53E8-55EE-F8BB-3C1B-3E3214D03BE8}"/>
              </a:ext>
            </a:extLst>
          </p:cNvPr>
          <p:cNvSpPr txBox="1"/>
          <p:nvPr/>
        </p:nvSpPr>
        <p:spPr>
          <a:xfrm>
            <a:off x="711203" y="2440409"/>
            <a:ext cx="79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lab-1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5A0FB76F-2C56-DCE6-3EC3-85BF24C26A71}"/>
              </a:ext>
            </a:extLst>
          </p:cNvPr>
          <p:cNvCxnSpPr>
            <a:cxnSpLocks/>
          </p:cNvCxnSpPr>
          <p:nvPr/>
        </p:nvCxnSpPr>
        <p:spPr>
          <a:xfrm flipV="1">
            <a:off x="1563083" y="2037807"/>
            <a:ext cx="0" cy="398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2A51640A-70E6-74FA-7F96-731CDAA7D5CF}"/>
              </a:ext>
            </a:extLst>
          </p:cNvPr>
          <p:cNvSpPr txBox="1"/>
          <p:nvPr/>
        </p:nvSpPr>
        <p:spPr>
          <a:xfrm>
            <a:off x="1391142" y="2436391"/>
            <a:ext cx="79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lab-2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C061348-8347-F71D-346E-F502F33BE788}"/>
              </a:ext>
            </a:extLst>
          </p:cNvPr>
          <p:cNvCxnSpPr>
            <a:cxnSpLocks/>
          </p:cNvCxnSpPr>
          <p:nvPr/>
        </p:nvCxnSpPr>
        <p:spPr>
          <a:xfrm flipV="1">
            <a:off x="2274281" y="2037807"/>
            <a:ext cx="0" cy="398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3824C750-8CF1-2810-CD97-7A549D285D4A}"/>
              </a:ext>
            </a:extLst>
          </p:cNvPr>
          <p:cNvSpPr txBox="1"/>
          <p:nvPr/>
        </p:nvSpPr>
        <p:spPr>
          <a:xfrm>
            <a:off x="2133605" y="2430585"/>
            <a:ext cx="79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lab-3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916F8BB5-48B1-5804-6411-7FA1C55B2805}"/>
              </a:ext>
            </a:extLst>
          </p:cNvPr>
          <p:cNvCxnSpPr>
            <a:cxnSpLocks/>
          </p:cNvCxnSpPr>
          <p:nvPr/>
        </p:nvCxnSpPr>
        <p:spPr>
          <a:xfrm flipV="1">
            <a:off x="3688867" y="2047631"/>
            <a:ext cx="0" cy="398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640CB42D-40E3-7CEE-C19C-0BFD98ABE610}"/>
              </a:ext>
            </a:extLst>
          </p:cNvPr>
          <p:cNvSpPr txBox="1"/>
          <p:nvPr/>
        </p:nvSpPr>
        <p:spPr>
          <a:xfrm>
            <a:off x="3532561" y="2448224"/>
            <a:ext cx="79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lab-4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D27C3E2-0736-05AA-228C-BAED6F61CC5B}"/>
              </a:ext>
            </a:extLst>
          </p:cNvPr>
          <p:cNvCxnSpPr>
            <a:cxnSpLocks/>
          </p:cNvCxnSpPr>
          <p:nvPr/>
        </p:nvCxnSpPr>
        <p:spPr>
          <a:xfrm flipV="1">
            <a:off x="4384441" y="2045622"/>
            <a:ext cx="0" cy="398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CE765B2D-CFD7-0FD6-550A-D38BA041C63D}"/>
              </a:ext>
            </a:extLst>
          </p:cNvPr>
          <p:cNvSpPr txBox="1"/>
          <p:nvPr/>
        </p:nvSpPr>
        <p:spPr>
          <a:xfrm>
            <a:off x="4212500" y="2444206"/>
            <a:ext cx="79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lab-5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A65B1E59-9682-0CB1-1CF5-891D0975D1F7}"/>
              </a:ext>
            </a:extLst>
          </p:cNvPr>
          <p:cNvCxnSpPr>
            <a:cxnSpLocks/>
          </p:cNvCxnSpPr>
          <p:nvPr/>
        </p:nvCxnSpPr>
        <p:spPr>
          <a:xfrm flipV="1">
            <a:off x="5080011" y="2045622"/>
            <a:ext cx="0" cy="398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49E08BB0-AC63-75AE-E582-8F64AB7B73A5}"/>
              </a:ext>
            </a:extLst>
          </p:cNvPr>
          <p:cNvSpPr txBox="1"/>
          <p:nvPr/>
        </p:nvSpPr>
        <p:spPr>
          <a:xfrm>
            <a:off x="4939335" y="2438400"/>
            <a:ext cx="79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lab-6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501864E2-FB3F-4E16-A38C-789D5202BB94}"/>
              </a:ext>
            </a:extLst>
          </p:cNvPr>
          <p:cNvCxnSpPr>
            <a:cxnSpLocks/>
          </p:cNvCxnSpPr>
          <p:nvPr/>
        </p:nvCxnSpPr>
        <p:spPr>
          <a:xfrm flipV="1">
            <a:off x="7158900" y="2029992"/>
            <a:ext cx="0" cy="398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931FB4B8-84C9-C7F7-798A-053DC35DE30A}"/>
              </a:ext>
            </a:extLst>
          </p:cNvPr>
          <p:cNvSpPr txBox="1"/>
          <p:nvPr/>
        </p:nvSpPr>
        <p:spPr>
          <a:xfrm>
            <a:off x="7002594" y="2430585"/>
            <a:ext cx="79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lab-7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218880C-B885-DA7B-B73F-9FD676A478D7}"/>
              </a:ext>
            </a:extLst>
          </p:cNvPr>
          <p:cNvCxnSpPr>
            <a:cxnSpLocks/>
          </p:cNvCxnSpPr>
          <p:nvPr/>
        </p:nvCxnSpPr>
        <p:spPr>
          <a:xfrm flipV="1">
            <a:off x="7854474" y="2027983"/>
            <a:ext cx="0" cy="398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0319B6AB-521D-FEEA-EA84-9051DAF52F62}"/>
              </a:ext>
            </a:extLst>
          </p:cNvPr>
          <p:cNvSpPr txBox="1"/>
          <p:nvPr/>
        </p:nvSpPr>
        <p:spPr>
          <a:xfrm>
            <a:off x="7698163" y="2426567"/>
            <a:ext cx="79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lab-8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02B86824-82F5-70EA-E76D-F1244876BDD6}"/>
              </a:ext>
            </a:extLst>
          </p:cNvPr>
          <p:cNvCxnSpPr>
            <a:cxnSpLocks/>
          </p:cNvCxnSpPr>
          <p:nvPr/>
        </p:nvCxnSpPr>
        <p:spPr>
          <a:xfrm flipV="1">
            <a:off x="9253420" y="2027983"/>
            <a:ext cx="0" cy="398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C41434EB-8DE8-516D-042A-048FA4AA42AB}"/>
              </a:ext>
            </a:extLst>
          </p:cNvPr>
          <p:cNvSpPr txBox="1"/>
          <p:nvPr/>
        </p:nvSpPr>
        <p:spPr>
          <a:xfrm>
            <a:off x="9112744" y="2420761"/>
            <a:ext cx="79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lab-9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10072C4-912A-0887-99FC-423594D650AA}"/>
              </a:ext>
            </a:extLst>
          </p:cNvPr>
          <p:cNvCxnSpPr>
            <a:cxnSpLocks/>
          </p:cNvCxnSpPr>
          <p:nvPr/>
        </p:nvCxnSpPr>
        <p:spPr>
          <a:xfrm>
            <a:off x="5080005" y="1078523"/>
            <a:ext cx="0" cy="52363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C72D127C-6440-05CD-7B44-A1D642D015E4}"/>
              </a:ext>
            </a:extLst>
          </p:cNvPr>
          <p:cNvSpPr txBox="1"/>
          <p:nvPr/>
        </p:nvSpPr>
        <p:spPr>
          <a:xfrm>
            <a:off x="4214467" y="709191"/>
            <a:ext cx="174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1-3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55AFB0E-0AD8-D566-72AD-C59C8B2E0F4C}"/>
              </a:ext>
            </a:extLst>
          </p:cNvPr>
          <p:cNvCxnSpPr>
            <a:cxnSpLocks/>
          </p:cNvCxnSpPr>
          <p:nvPr/>
        </p:nvCxnSpPr>
        <p:spPr>
          <a:xfrm>
            <a:off x="8563701" y="1078523"/>
            <a:ext cx="0" cy="52363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814E9B02-0F6E-56F9-AC07-B9B1A72CB2A4}"/>
              </a:ext>
            </a:extLst>
          </p:cNvPr>
          <p:cNvSpPr txBox="1"/>
          <p:nvPr/>
        </p:nvSpPr>
        <p:spPr>
          <a:xfrm>
            <a:off x="7698163" y="709191"/>
            <a:ext cx="174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1-6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9C3FE49C-3DDE-B9DB-6E98-8DE493EB8A5B}"/>
              </a:ext>
            </a:extLst>
          </p:cNvPr>
          <p:cNvCxnSpPr>
            <a:cxnSpLocks/>
          </p:cNvCxnSpPr>
          <p:nvPr/>
        </p:nvCxnSpPr>
        <p:spPr>
          <a:xfrm>
            <a:off x="12051334" y="1078523"/>
            <a:ext cx="0" cy="52363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7DB754AC-8F51-63B6-8474-63E4E47AD2F9}"/>
              </a:ext>
            </a:extLst>
          </p:cNvPr>
          <p:cNvSpPr txBox="1"/>
          <p:nvPr/>
        </p:nvSpPr>
        <p:spPr>
          <a:xfrm>
            <a:off x="10315338" y="678559"/>
            <a:ext cx="174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1-9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CF58557-5E66-E493-B03C-EFBA230A3A4E}"/>
              </a:ext>
            </a:extLst>
          </p:cNvPr>
          <p:cNvSpPr txBox="1"/>
          <p:nvPr/>
        </p:nvSpPr>
        <p:spPr>
          <a:xfrm>
            <a:off x="78163" y="3185398"/>
            <a:ext cx="7080737" cy="3265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助教会在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Checkpoint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检查你的代码仓库，具体包括：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提交记录 → 规律稳定的提交、不存在抄袭等异常行为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文档 → 本次实验的完成度、对本次实验的理解、清晰可读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 → 符合规范的代码、有必要的注释、能通过测试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Checkpoint-1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：依据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1-3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的完成情况进行打分（占总分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30%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Checkpoint-2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：依据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1-6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的完成情况进行打分（占总分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30%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Checkpoint-3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：依据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1-9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的完成情况进行打分（占总分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40%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337B254-5FA1-8712-67FF-85366F8156FE}"/>
              </a:ext>
            </a:extLst>
          </p:cNvPr>
          <p:cNvSpPr txBox="1"/>
          <p:nvPr/>
        </p:nvSpPr>
        <p:spPr>
          <a:xfrm>
            <a:off x="7276131" y="3135297"/>
            <a:ext cx="4915869" cy="372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为什么这么设计？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不是所有人都能在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周内完成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个实验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考虑做的快的学生，我们尽早发布实验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考虑做的慢的学生，我们延迟检查实验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尽量保障时间弹性，我们只检查三次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如果遇到放假，实验会正常发布，但是实验课的讲解延后一周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如果大家普遍做不完，检查点可以延后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0F798A7-AC10-55CC-70BD-157AF9FC08F1}"/>
              </a:ext>
            </a:extLst>
          </p:cNvPr>
          <p:cNvSpPr txBox="1"/>
          <p:nvPr/>
        </p:nvSpPr>
        <p:spPr>
          <a:xfrm>
            <a:off x="75732" y="993911"/>
            <a:ext cx="3249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周的时间内完成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个实验</a:t>
            </a:r>
          </a:p>
        </p:txBody>
      </p:sp>
    </p:spTree>
    <p:extLst>
      <p:ext uri="{BB962C8B-B14F-4D97-AF65-F5344CB8AC3E}">
        <p14:creationId xmlns:p14="http://schemas.microsoft.com/office/powerpoint/2010/main" val="324485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D1BD-F70E-9AA0-8D26-D54DD5DF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D3DF4E7-93A6-A9AA-5184-AE9A8B308059}"/>
              </a:ext>
            </a:extLst>
          </p:cNvPr>
          <p:cNvSpPr txBox="1"/>
          <p:nvPr/>
        </p:nvSpPr>
        <p:spPr>
          <a:xfrm>
            <a:off x="148493" y="132861"/>
            <a:ext cx="3688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你需要知道的事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844D8E-4D8E-11E3-1287-78CA8CBD9DD4}"/>
              </a:ext>
            </a:extLst>
          </p:cNvPr>
          <p:cNvSpPr txBox="1"/>
          <p:nvPr/>
        </p:nvSpPr>
        <p:spPr>
          <a:xfrm>
            <a:off x="1203569" y="866130"/>
            <a:ext cx="9745786" cy="2342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考虑到实验的工作量和难度，我们鼓励学生组成两人小队：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助教会建立一个共享文档，请大家在第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周完成组队，从第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周开始就不可变更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填写“队员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、队员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、代码仓库链接、实验完成度（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~ 9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）”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同队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人原则上得分相同，如有特殊情况可能对其中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人酌情扣分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如果你不幸落单或主动选择单人完成，原则上不会获得加分优势（可能有印象分？）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F4875F-2153-8766-072B-172AF31C8ECA}"/>
              </a:ext>
            </a:extLst>
          </p:cNvPr>
          <p:cNvSpPr txBox="1"/>
          <p:nvPr/>
        </p:nvSpPr>
        <p:spPr>
          <a:xfrm>
            <a:off x="1203570" y="3456487"/>
            <a:ext cx="9980246" cy="3265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关于答疑：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助教会建立一个实验交流群，供学生互相讨论实验中遇到的问题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反映实验的代码、测试、文档中不清楚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不完善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错误的地方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线下答疑时间：周一实验课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周一晚上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18:00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~ 21:00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（理科大楼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B230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最里面的一排）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由于助教事务缠身，请不要加助教的私人微信，遇到问题请通过前两条渠道反映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注：答疑时间可能会修改，如有修改会及时通知大家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873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5AFEA-25CC-7AD9-BFC1-D1C5961D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BAA4D8F-F486-004F-E3CE-30CFCB77A333}"/>
              </a:ext>
            </a:extLst>
          </p:cNvPr>
          <p:cNvSpPr txBox="1"/>
          <p:nvPr/>
        </p:nvSpPr>
        <p:spPr>
          <a:xfrm>
            <a:off x="148493" y="132861"/>
            <a:ext cx="3688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你需要知道的事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EEAF42-C1B8-1898-430B-8F63AE0C25D9}"/>
              </a:ext>
            </a:extLst>
          </p:cNvPr>
          <p:cNvSpPr txBox="1"/>
          <p:nvPr/>
        </p:nvSpPr>
        <p:spPr>
          <a:xfrm>
            <a:off x="738553" y="689576"/>
            <a:ext cx="10117015" cy="6035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实验的基本原则：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开源但是不要抄袭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所有小队的线上仓库设为公开，地址填入共享文档，大家可以很方便地查看其他组的代码、文档、进展。我们希望以此帮助和激励能力薄弱的小组；但是请不要抄袭，你的每次提交都有记录，如果助教第一次发现异常会进行警告并扣分，第二次发现异常实验最终得分不会超过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参考但是不要复制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xv6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的原版实现是所有小队的共同参考依据，但请不要复制它的代码。一方面，直接复制无法完成实验要求；另一方面，你会错过很好的学习机会。因此，我们建议你阅读代码、理解逻辑、自己动手实现。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尽力而为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：坦诚地说，我们的实验是具有挑战性和选拔性的，我们希望找到真正热爱操作系统的人。对于能力平凡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不感兴趣的同学，尽力而为完成实验即可，我们会综合考虑多方因素并给出合理的分数（较高的基础分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可控的分差）。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作品而非作业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：全部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个实验完成后，你会实现一个作品作为这门课的纪念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深造道路的敲门砖。因此，好好对待你的代码，认真完成你的内核，而不是写完作业就完了。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149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ED0A3-E1C8-21D1-ACDE-D29BFDCF7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583C644-DA74-F00F-E194-2D68B80D7DB6}"/>
              </a:ext>
            </a:extLst>
          </p:cNvPr>
          <p:cNvSpPr txBox="1"/>
          <p:nvPr/>
        </p:nvSpPr>
        <p:spPr>
          <a:xfrm>
            <a:off x="148493" y="132861"/>
            <a:ext cx="3688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实验环境配置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78DB24-E7FA-6720-C75C-8EEDAD62EB93}"/>
              </a:ext>
            </a:extLst>
          </p:cNvPr>
          <p:cNvSpPr/>
          <p:nvPr/>
        </p:nvSpPr>
        <p:spPr>
          <a:xfrm>
            <a:off x="7724771" y="3376258"/>
            <a:ext cx="3998305" cy="590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你的笔记本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70A062-A5F8-4683-56BB-1D47565CBDF2}"/>
              </a:ext>
            </a:extLst>
          </p:cNvPr>
          <p:cNvSpPr/>
          <p:nvPr/>
        </p:nvSpPr>
        <p:spPr>
          <a:xfrm>
            <a:off x="8095750" y="2782287"/>
            <a:ext cx="3623842" cy="59006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Windows / MacOS / HarmonyOS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004131-D5BF-7C25-52ED-A3C5B3B10CED}"/>
              </a:ext>
            </a:extLst>
          </p:cNvPr>
          <p:cNvSpPr/>
          <p:nvPr/>
        </p:nvSpPr>
        <p:spPr>
          <a:xfrm>
            <a:off x="8550473" y="2192222"/>
            <a:ext cx="3170861" cy="5900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VMware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E5B522-1E67-6939-5897-D9DC05428F0D}"/>
              </a:ext>
            </a:extLst>
          </p:cNvPr>
          <p:cNvSpPr/>
          <p:nvPr/>
        </p:nvSpPr>
        <p:spPr>
          <a:xfrm>
            <a:off x="9026769" y="1598246"/>
            <a:ext cx="2692823" cy="59006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Ubuntu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4220C0-4842-35A2-3A6B-4D66F088BF65}"/>
              </a:ext>
            </a:extLst>
          </p:cNvPr>
          <p:cNvSpPr/>
          <p:nvPr/>
        </p:nvSpPr>
        <p:spPr>
          <a:xfrm>
            <a:off x="9407244" y="1004270"/>
            <a:ext cx="2313219" cy="5900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qemu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4EA5EE-62CB-2B50-6F7C-6E83ACBAAF42}"/>
              </a:ext>
            </a:extLst>
          </p:cNvPr>
          <p:cNvSpPr/>
          <p:nvPr/>
        </p:nvSpPr>
        <p:spPr>
          <a:xfrm>
            <a:off x="9829154" y="414193"/>
            <a:ext cx="1890438" cy="59006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xv6-riscv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5B2DAD-496F-C985-546A-8E42BD4A207F}"/>
              </a:ext>
            </a:extLst>
          </p:cNvPr>
          <p:cNvSpPr/>
          <p:nvPr/>
        </p:nvSpPr>
        <p:spPr>
          <a:xfrm>
            <a:off x="148493" y="3391869"/>
            <a:ext cx="2313219" cy="5900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开发板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3E12A3-51D0-1F46-C49D-04B10C24424D}"/>
              </a:ext>
            </a:extLst>
          </p:cNvPr>
          <p:cNvSpPr/>
          <p:nvPr/>
        </p:nvSpPr>
        <p:spPr>
          <a:xfrm>
            <a:off x="570403" y="2801792"/>
            <a:ext cx="1890438" cy="59006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xv6-riscv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C7DB1D-9E5E-CE8C-3DCF-277083D800F8}"/>
              </a:ext>
            </a:extLst>
          </p:cNvPr>
          <p:cNvSpPr/>
          <p:nvPr/>
        </p:nvSpPr>
        <p:spPr>
          <a:xfrm>
            <a:off x="3497482" y="3391869"/>
            <a:ext cx="3170861" cy="5900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你的笔记本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BF5F5B-33A3-C43D-146F-43F61F2E8315}"/>
              </a:ext>
            </a:extLst>
          </p:cNvPr>
          <p:cNvSpPr/>
          <p:nvPr/>
        </p:nvSpPr>
        <p:spPr>
          <a:xfrm>
            <a:off x="4027237" y="2797893"/>
            <a:ext cx="2639364" cy="59006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Ubuntu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C8A71E-9AAC-7F60-7F92-EB4802BD8E46}"/>
              </a:ext>
            </a:extLst>
          </p:cNvPr>
          <p:cNvSpPr/>
          <p:nvPr/>
        </p:nvSpPr>
        <p:spPr>
          <a:xfrm>
            <a:off x="4410075" y="2203917"/>
            <a:ext cx="2257397" cy="5900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qemu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92C3BF-B0E9-C871-516A-9F58D8214FDB}"/>
              </a:ext>
            </a:extLst>
          </p:cNvPr>
          <p:cNvSpPr/>
          <p:nvPr/>
        </p:nvSpPr>
        <p:spPr>
          <a:xfrm>
            <a:off x="4776163" y="1613840"/>
            <a:ext cx="1890438" cy="59006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xv6-riscv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CEC69145-4FD0-5320-40AB-D74A31F8631C}"/>
              </a:ext>
            </a:extLst>
          </p:cNvPr>
          <p:cNvSpPr/>
          <p:nvPr/>
        </p:nvSpPr>
        <p:spPr>
          <a:xfrm>
            <a:off x="2762070" y="3473917"/>
            <a:ext cx="499402" cy="42596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A576A19-3FCF-CE6E-29A6-249F525D998F}"/>
              </a:ext>
            </a:extLst>
          </p:cNvPr>
          <p:cNvSpPr/>
          <p:nvPr/>
        </p:nvSpPr>
        <p:spPr>
          <a:xfrm>
            <a:off x="6939393" y="3473917"/>
            <a:ext cx="499402" cy="42596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21EE50D-8FA7-8805-3388-CB3D1BF482E6}"/>
              </a:ext>
            </a:extLst>
          </p:cNvPr>
          <p:cNvSpPr txBox="1"/>
          <p:nvPr/>
        </p:nvSpPr>
        <p:spPr>
          <a:xfrm>
            <a:off x="729326" y="4096744"/>
            <a:ext cx="1347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符合直觉。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98563E-97A3-0A9E-A362-557C893A356F}"/>
              </a:ext>
            </a:extLst>
          </p:cNvPr>
          <p:cNvSpPr txBox="1"/>
          <p:nvPr/>
        </p:nvSpPr>
        <p:spPr>
          <a:xfrm>
            <a:off x="4519844" y="4096744"/>
            <a:ext cx="1414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不太常见？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04CA5C0-B346-A48B-36C5-A1BA15D7D1D6}"/>
              </a:ext>
            </a:extLst>
          </p:cNvPr>
          <p:cNvSpPr txBox="1"/>
          <p:nvPr/>
        </p:nvSpPr>
        <p:spPr>
          <a:xfrm>
            <a:off x="9158491" y="4026935"/>
            <a:ext cx="1498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太抽象了！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B233EA8-0651-7349-B726-2A9C25F2DC05}"/>
              </a:ext>
            </a:extLst>
          </p:cNvPr>
          <p:cNvSpPr/>
          <p:nvPr/>
        </p:nvSpPr>
        <p:spPr>
          <a:xfrm>
            <a:off x="570403" y="1070015"/>
            <a:ext cx="586274" cy="45857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818F43-09DB-50DE-450B-21D72B87C966}"/>
              </a:ext>
            </a:extLst>
          </p:cNvPr>
          <p:cNvSpPr/>
          <p:nvPr/>
        </p:nvSpPr>
        <p:spPr>
          <a:xfrm>
            <a:off x="570403" y="1772372"/>
            <a:ext cx="586274" cy="45857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1B65FC-C0BD-FEAC-EB8A-8AE6AC157B82}"/>
              </a:ext>
            </a:extLst>
          </p:cNvPr>
          <p:cNvSpPr txBox="1"/>
          <p:nvPr/>
        </p:nvSpPr>
        <p:spPr>
          <a:xfrm>
            <a:off x="1305101" y="1099245"/>
            <a:ext cx="2038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操作系统（软件）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18DB8AC-476E-168A-0939-123F5224FA04}"/>
              </a:ext>
            </a:extLst>
          </p:cNvPr>
          <p:cNvSpPr txBox="1"/>
          <p:nvPr/>
        </p:nvSpPr>
        <p:spPr>
          <a:xfrm>
            <a:off x="1305102" y="1788196"/>
            <a:ext cx="18904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硬件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模拟硬件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E7B86DD-F8CE-B0E3-A128-CA533EA0002B}"/>
              </a:ext>
            </a:extLst>
          </p:cNvPr>
          <p:cNvSpPr txBox="1"/>
          <p:nvPr/>
        </p:nvSpPr>
        <p:spPr>
          <a:xfrm>
            <a:off x="539243" y="4995720"/>
            <a:ext cx="2525358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我们的教程基于第三种运行环境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核心软件版本：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A286FF6-CCF8-826D-2E5B-FE5340A77D6D}"/>
              </a:ext>
            </a:extLst>
          </p:cNvPr>
          <p:cNvSpPr txBox="1"/>
          <p:nvPr/>
        </p:nvSpPr>
        <p:spPr>
          <a:xfrm>
            <a:off x="2947371" y="4887773"/>
            <a:ext cx="3711506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VMware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Workstation pro 17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Ubuntu 22.04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qemu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5.1.0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xv6-riscv-2020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3C1E988-F70A-A808-6DE6-7F8589FA7683}"/>
              </a:ext>
            </a:extLst>
          </p:cNvPr>
          <p:cNvSpPr txBox="1"/>
          <p:nvPr/>
        </p:nvSpPr>
        <p:spPr>
          <a:xfrm>
            <a:off x="7627436" y="4887773"/>
            <a:ext cx="3829918" cy="1049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实验环境配置成功的标志：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xv6-riscv-2020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能够成功运行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2863D28-98DE-7DE4-747D-59AF2A7A3678}"/>
              </a:ext>
            </a:extLst>
          </p:cNvPr>
          <p:cNvSpPr txBox="1"/>
          <p:nvPr/>
        </p:nvSpPr>
        <p:spPr>
          <a:xfrm>
            <a:off x="7603225" y="6275845"/>
            <a:ext cx="4451857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注：更多细节请参考配套的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文档</a:t>
            </a:r>
          </a:p>
        </p:txBody>
      </p:sp>
    </p:spTree>
    <p:extLst>
      <p:ext uri="{BB962C8B-B14F-4D97-AF65-F5344CB8AC3E}">
        <p14:creationId xmlns:p14="http://schemas.microsoft.com/office/powerpoint/2010/main" val="1602796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FBABC-D226-7AD3-A06D-93405603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4AF4E88-75DA-79E5-897E-3BE12A0DB48F}"/>
              </a:ext>
            </a:extLst>
          </p:cNvPr>
          <p:cNvSpPr txBox="1"/>
          <p:nvPr/>
        </p:nvSpPr>
        <p:spPr>
          <a:xfrm>
            <a:off x="148493" y="132861"/>
            <a:ext cx="4962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 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你应该学习的前置知识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52BB72-F7E1-BF61-9A1B-044155F3843A}"/>
              </a:ext>
            </a:extLst>
          </p:cNvPr>
          <p:cNvSpPr txBox="1"/>
          <p:nvPr/>
        </p:nvSpPr>
        <p:spPr>
          <a:xfrm>
            <a:off x="590062" y="1134320"/>
            <a:ext cx="11011876" cy="5273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 </a:t>
            </a:r>
            <a:r>
              <a:rPr lang="en-US" altLang="zh-CN" sz="2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Gitee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：学习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的简单用法，在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gitee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上建立一个公开的空白的代码仓库，它需要包含一个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README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文件用于介绍你的小组成员和你的项目，当然也可以包括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gitignore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和许可证（线上仓库最晚在第二周内建好）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README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：学习简单的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Markdown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语法，以后你写文档会用得上。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Makefile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与程序编译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：能够在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的帮助下熟悉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Makefile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的工作原理，以及背后的程序编译、链接、运行的基本原理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语言的包括多个源文件的项目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：理解多个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.h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.S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等各种类型源文件是如何协作的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命令行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的帮助下熟悉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环境下的常用命令，理解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系统的基本概念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xv6-riscv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：对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xv6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的原理建立初步认识，学习编译和运行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xv6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，探索它的玩法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未来的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周注定不轻松，早点开始，玩得开心！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677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1446</Words>
  <Application>Microsoft Office PowerPoint</Application>
  <PresentationFormat>宽屏</PresentationFormat>
  <Paragraphs>135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等线 Light</vt:lpstr>
      <vt:lpstr>黑体</vt:lpstr>
      <vt:lpstr>宋体</vt:lpstr>
      <vt:lpstr>Arial</vt:lpstr>
      <vt:lpstr>Times New Roman</vt:lpstr>
      <vt:lpstr>Wingdings</vt:lpstr>
      <vt:lpstr>Office 主题​​</vt:lpstr>
      <vt:lpstr>   2025年 秋季学期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夏浩东 行休</dc:creator>
  <cp:lastModifiedBy>夏浩东 行休</cp:lastModifiedBy>
  <cp:revision>18</cp:revision>
  <dcterms:created xsi:type="dcterms:W3CDTF">2025-09-14T10:42:26Z</dcterms:created>
  <dcterms:modified xsi:type="dcterms:W3CDTF">2025-09-14T13:31:50Z</dcterms:modified>
</cp:coreProperties>
</file>